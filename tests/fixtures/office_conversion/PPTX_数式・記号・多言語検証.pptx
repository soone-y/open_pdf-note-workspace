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P-MATH-001 数式記号表示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PowerPointネイティブ数式はOffice本体が必要なため未作成。代用画像なし。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latin typeface="Cambria Math"/>
              </a:defRPr>
            </a:pPr>
            <a:r>
              <a:t>可視テキスト（非ネイティブ数式）: (a+b)/(c+d), √(x+y), x²+y₂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未作成要素: PowerPointネイティブ数式。ここは記号・フォント・Unicode表示の補助検証。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P-MATH-002 数式記号表示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PowerPointネイティブ数式はOffice本体が必要なため未作成。代用画像なし。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latin typeface="Cambria Math"/>
              </a:defRPr>
            </a:pPr>
            <a:r>
              <a:t>可視テキスト（非ネイティブ数式）: ∑_{i=1}^{n} xᵢ, ∫₀¹ f(x)dx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未作成要素: PowerPointネイティブ数式。ここは記号・フォント・Unicode表示の補助検証。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P-MATH-003 数式記号表示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PowerPointネイティブ数式はOffice本体が必要なため未作成。代用画像なし。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latin typeface="Cambria Math"/>
              </a:defRPr>
            </a:pPr>
            <a:r>
              <a:t>可視テキスト（非ネイティブ数式）: [ [a, b], [c, d] ], { 2x+y=5; x-y=1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未作成要素: PowerPointネイティブ数式。ここは記号・フォント・Unicode表示の補助検証。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P-MATH-004 数式記号表示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PowerPointネイティブ数式はOffice本体が必要なため未作成。代用画像なし。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latin typeface="Cambria Math"/>
              </a:defRPr>
            </a:pPr>
            <a:r>
              <a:t>可視テキスト（非ネイティブ数式）: α β γ Δ Ω, x⃗, A∩B⊂U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未作成要素: PowerPointネイティブ数式。ここは記号・フォント・Unicode表示の補助検証。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P-MATH-005 箇条書き内の数式テキスト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ネイティブ数式ではないことを明記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latin typeface="Cambria Math"/>
              </a:defRPr>
            </a:pPr>
            <a:r>
              <a:t>分数: (a+b)/(c+d)</a:t>
            </a:r>
          </a:p>
          <a:p>
            <a:pPr>
              <a:defRPr sz="2400">
                <a:latin typeface="Cambria Math"/>
              </a:defRPr>
            </a:pPr>
            <a:r>
              <a:t>平方根: √x</a:t>
            </a:r>
          </a:p>
          <a:p>
            <a:pPr>
              <a:defRPr sz="2400">
                <a:latin typeface="Cambria Math"/>
              </a:defRPr>
            </a:pPr>
            <a:r>
              <a:t>総和: ∑ᵢ xᵢ</a:t>
            </a:r>
          </a:p>
          <a:p>
            <a:pPr>
              <a:defRPr sz="2400">
                <a:latin typeface="Cambria Math"/>
              </a:defRPr>
            </a:pPr>
            <a:r>
              <a:t>積分: ∫ f(x) dx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P-MATH-006 表セル内の数式テキスト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PowerPoint表 + Unicode数式文字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789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r>
                        <a:t>試験番号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期待状態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t>P-MATH-006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x²+y₂=1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文字化けなし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t>P-MATH-007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α+β≤γ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記号維持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t>P-MATH-008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A∩B⊂U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集合記号維持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P-MATH-009 回転テキストボックス内の数式テキスト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回転・ベースライン確認</a:t>
            </a:r>
          </a:p>
        </p:txBody>
      </p:sp>
      <p:sp>
        <p:nvSpPr>
          <p:cNvPr id="4" name="TextBox 3"/>
          <p:cNvSpPr txBox="1"/>
          <p:nvPr/>
        </p:nvSpPr>
        <p:spPr>
          <a:xfrm rot="1500000">
            <a:off x="3931920" y="18288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latin typeface="Cambria Math"/>
              </a:defRPr>
            </a:pPr>
            <a:r>
              <a:t>回転: ∑ᵢ xᵢ = n(n+1)/2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P-MATH-010 Segoe UI Symbol・記号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チェックマーク等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Segoe UI Symbol"/>
              </a:defRPr>
            </a:pPr>
            <a:r>
              <a:t>Segoe UI Symbol: ✓ ✔ ☑ ☐ ★ → ⇔ ∞ ≈ ≠ ≤ 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P-MATH-011 多言語・絵文字・結合文字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日本語/英語/中国語/韓国語/Arabic/Hebrew/emoji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Yu Gothic"/>
              </a:defRPr>
            </a:pPr>
            <a:r>
              <a:t>日本語 English 中文 한국어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latin typeface="Arial"/>
              </a:defRPr>
            </a:pPr>
            <a:r>
              <a:t>العربية من اليمين إلى اليسار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latin typeface="Arial"/>
              </a:defRPr>
            </a:pPr>
            <a:r>
              <a:t>עברית מימין לשמאל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Yu Gothic"/>
              </a:defRPr>
            </a:pPr>
            <a:r>
              <a:t>Emoji 😀 🧪 ✅ / combining ā é ö / 異体字 辻󠄀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CE9C013-9796-A39F-07FE-4F82AEF9EAFB}"/>
              </a:ext>
            </a:extLst>
          </p:cNvPr>
          <p:cNvSpPr txBox="1"/>
          <p:nvPr/>
        </p:nvSpPr>
        <p:spPr>
          <a:xfrm>
            <a:off x="457200" y="254000"/>
            <a:ext cx="112776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600" b="1">
                <a:latin typeface="Yu Gothic" panose="020B0400000000000000" pitchFamily="50" charset="-128"/>
                <a:ea typeface="Yu Gothic" panose="020B0400000000000000" pitchFamily="50" charset="-128"/>
              </a:rPr>
              <a:t>PowerPoint</a:t>
            </a:r>
            <a:r>
              <a:rPr kumimoji="1" lang="ja-JP" altLang="en-US" sz="2600" b="1">
                <a:latin typeface="Yu Gothic" panose="020B0400000000000000" pitchFamily="50" charset="-128"/>
                <a:ea typeface="Yu Gothic" panose="020B0400000000000000" pitchFamily="50" charset="-128"/>
              </a:rPr>
              <a:t>ネイティブ数式 </a:t>
            </a:r>
            <a:r>
              <a:rPr kumimoji="1" lang="en-US" altLang="ja-JP" sz="2600" b="1"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endParaRPr kumimoji="1" lang="ja-JP" altLang="en-US" sz="2600" b="1"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11920F8-49D0-35E3-74DC-0EA4AAD9C8B1}"/>
              </a:ext>
            </a:extLst>
          </p:cNvPr>
          <p:cNvSpPr txBox="1"/>
          <p:nvPr/>
        </p:nvSpPr>
        <p:spPr>
          <a:xfrm>
            <a:off x="482600" y="787400"/>
            <a:ext cx="1117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300">
                <a:latin typeface="Yu Gothic" panose="020B0400000000000000" pitchFamily="50" charset="-128"/>
                <a:ea typeface="Yu Gothic" panose="020B0400000000000000" pitchFamily="50" charset="-128"/>
              </a:rPr>
              <a:t>Word Office Math</a:t>
            </a:r>
            <a:r>
              <a:rPr kumimoji="1" lang="ja-JP" altLang="en-US" sz="1300">
                <a:latin typeface="Yu Gothic" panose="020B0400000000000000" pitchFamily="50" charset="-128"/>
                <a:ea typeface="Yu Gothic" panose="020B0400000000000000" pitchFamily="50" charset="-128"/>
              </a:rPr>
              <a:t>から貼り付けた編集可能な数式オブジェクト。画像ではありません。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222EC46A-6A07-42E8-F677-69DE216616EF}"/>
                  </a:ext>
                </a:extLst>
              </p:cNvPr>
              <p:cNvSpPr txBox="1"/>
              <p:nvPr/>
            </p:nvSpPr>
            <p:spPr>
              <a:xfrm>
                <a:off x="1143000" y="1651000"/>
                <a:ext cx="4318000" cy="685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ja-JP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ja-JP" altLang="en-US" i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ja-JP" alt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ja-JP" altLang="en-US" i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ja-JP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222EC46A-6A07-42E8-F677-69DE21661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1651000"/>
                <a:ext cx="4318000" cy="6851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F31DBDC-9135-FDD5-FB07-0161FB91721F}"/>
              </a:ext>
            </a:extLst>
          </p:cNvPr>
          <p:cNvSpPr txBox="1"/>
          <p:nvPr/>
        </p:nvSpPr>
        <p:spPr>
          <a:xfrm>
            <a:off x="1143000" y="1270000"/>
            <a:ext cx="431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400">
                <a:latin typeface="Yu Gothic" panose="020B0400000000000000" pitchFamily="50" charset="-128"/>
                <a:ea typeface="Yu Gothic" panose="020B0400000000000000" pitchFamily="50" charset="-128"/>
              </a:rPr>
              <a:t>数式 </a:t>
            </a:r>
            <a:r>
              <a:rPr kumimoji="1" lang="en-US" altLang="ja-JP" sz="1400"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endParaRPr kumimoji="1" lang="ja-JP" altLang="en-US" sz="1400"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1445291D-4892-F643-126E-B9C560437F77}"/>
                  </a:ext>
                </a:extLst>
              </p:cNvPr>
              <p:cNvSpPr txBox="1"/>
              <p:nvPr/>
            </p:nvSpPr>
            <p:spPr>
              <a:xfrm>
                <a:off x="6477000" y="1651000"/>
                <a:ext cx="4318000" cy="7145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ctrlPr>
                            <a:rPr lang="ja-JP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ja-JP" alt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ja-JP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ja-JP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ja-JP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1445291D-4892-F643-126E-B9C560437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1651000"/>
                <a:ext cx="4318000" cy="7145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2F1EEF9-470C-1C8C-2E1B-309D88E5427D}"/>
              </a:ext>
            </a:extLst>
          </p:cNvPr>
          <p:cNvSpPr txBox="1"/>
          <p:nvPr/>
        </p:nvSpPr>
        <p:spPr>
          <a:xfrm>
            <a:off x="6477000" y="1270000"/>
            <a:ext cx="431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400">
                <a:latin typeface="Yu Gothic" panose="020B0400000000000000" pitchFamily="50" charset="-128"/>
                <a:ea typeface="Yu Gothic" panose="020B0400000000000000" pitchFamily="50" charset="-128"/>
              </a:rPr>
              <a:t>数式 </a:t>
            </a:r>
            <a:r>
              <a:rPr kumimoji="1" lang="en-US" altLang="ja-JP" sz="1400"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endParaRPr kumimoji="1" lang="ja-JP" altLang="en-US" sz="1400"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D9B011C7-CE1A-04CC-89DF-7990B8A7FFC7}"/>
                  </a:ext>
                </a:extLst>
              </p:cNvPr>
              <p:cNvSpPr txBox="1"/>
              <p:nvPr/>
            </p:nvSpPr>
            <p:spPr>
              <a:xfrm>
                <a:off x="1143000" y="3937000"/>
                <a:ext cx="4318000" cy="848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ja-JP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ja-JP" alt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nary>
                      <m:r>
                        <a:rPr lang="ja-JP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ja-JP" altLang="en-US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ja-JP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D9B011C7-CE1A-04CC-89DF-7990B8A7F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3937000"/>
                <a:ext cx="4318000" cy="8485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CB5E6BD-8905-E1E2-4149-1679C25DFC9C}"/>
              </a:ext>
            </a:extLst>
          </p:cNvPr>
          <p:cNvSpPr txBox="1"/>
          <p:nvPr/>
        </p:nvSpPr>
        <p:spPr>
          <a:xfrm>
            <a:off x="1143000" y="3556000"/>
            <a:ext cx="431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400">
                <a:latin typeface="Yu Gothic" panose="020B0400000000000000" pitchFamily="50" charset="-128"/>
                <a:ea typeface="Yu Gothic" panose="020B0400000000000000" pitchFamily="50" charset="-128"/>
              </a:rPr>
              <a:t>数式 </a:t>
            </a:r>
            <a:r>
              <a:rPr kumimoji="1" lang="en-US" altLang="ja-JP" sz="1400"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endParaRPr kumimoji="1" lang="ja-JP" altLang="en-US" sz="1400"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F6A85734-1109-98F2-00CA-B28A1F2EFF7C}"/>
                  </a:ext>
                </a:extLst>
              </p:cNvPr>
              <p:cNvSpPr txBox="1"/>
              <p:nvPr/>
            </p:nvSpPr>
            <p:spPr>
              <a:xfrm>
                <a:off x="6477000" y="3937000"/>
                <a:ext cx="4318000" cy="5598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ja-JP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F6A85734-1109-98F2-00CA-B28A1F2EF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3937000"/>
                <a:ext cx="4318000" cy="5598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379A5A2-667D-6785-DD2C-543E6AEFD619}"/>
              </a:ext>
            </a:extLst>
          </p:cNvPr>
          <p:cNvSpPr txBox="1"/>
          <p:nvPr/>
        </p:nvSpPr>
        <p:spPr>
          <a:xfrm>
            <a:off x="6477000" y="3556000"/>
            <a:ext cx="431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400">
                <a:latin typeface="Yu Gothic" panose="020B0400000000000000" pitchFamily="50" charset="-128"/>
                <a:ea typeface="Yu Gothic" panose="020B0400000000000000" pitchFamily="50" charset="-128"/>
              </a:rPr>
              <a:t>数式 </a:t>
            </a:r>
            <a:r>
              <a:rPr kumimoji="1" lang="en-US" altLang="ja-JP" sz="1400"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endParaRPr kumimoji="1" lang="ja-JP" altLang="en-US" sz="1400"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994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0915DB5-2B35-99B3-FC81-F86E78A67EFF}"/>
              </a:ext>
            </a:extLst>
          </p:cNvPr>
          <p:cNvSpPr txBox="1"/>
          <p:nvPr/>
        </p:nvSpPr>
        <p:spPr>
          <a:xfrm>
            <a:off x="457200" y="254000"/>
            <a:ext cx="112776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600" b="1">
                <a:latin typeface="Yu Gothic" panose="020B0400000000000000" pitchFamily="50" charset="-128"/>
                <a:ea typeface="Yu Gothic" panose="020B0400000000000000" pitchFamily="50" charset="-128"/>
              </a:rPr>
              <a:t>PowerPoint</a:t>
            </a:r>
            <a:r>
              <a:rPr kumimoji="1" lang="ja-JP" altLang="en-US" sz="2600" b="1">
                <a:latin typeface="Yu Gothic" panose="020B0400000000000000" pitchFamily="50" charset="-128"/>
                <a:ea typeface="Yu Gothic" panose="020B0400000000000000" pitchFamily="50" charset="-128"/>
              </a:rPr>
              <a:t>ネイティブ数式 </a:t>
            </a:r>
            <a:r>
              <a:rPr kumimoji="1" lang="en-US" altLang="ja-JP" sz="2600" b="1"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endParaRPr kumimoji="1" lang="ja-JP" altLang="en-US" sz="2600" b="1"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FE91162-C5C8-C60F-66BF-33F4FB22B879}"/>
              </a:ext>
            </a:extLst>
          </p:cNvPr>
          <p:cNvSpPr txBox="1"/>
          <p:nvPr/>
        </p:nvSpPr>
        <p:spPr>
          <a:xfrm>
            <a:off x="482600" y="787400"/>
            <a:ext cx="1117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300">
                <a:latin typeface="Yu Gothic" panose="020B0400000000000000" pitchFamily="50" charset="-128"/>
                <a:ea typeface="Yu Gothic" panose="020B0400000000000000" pitchFamily="50" charset="-128"/>
              </a:rPr>
              <a:t>Word Office Math</a:t>
            </a:r>
            <a:r>
              <a:rPr kumimoji="1" lang="ja-JP" altLang="en-US" sz="1300">
                <a:latin typeface="Yu Gothic" panose="020B0400000000000000" pitchFamily="50" charset="-128"/>
                <a:ea typeface="Yu Gothic" panose="020B0400000000000000" pitchFamily="50" charset="-128"/>
              </a:rPr>
              <a:t>から貼り付けた編集可能な数式オブジェクト。画像ではありません。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97ED6934-5645-08A3-243B-3A6B0315D1F8}"/>
                  </a:ext>
                </a:extLst>
              </p:cNvPr>
              <p:cNvSpPr txBox="1"/>
              <p:nvPr/>
            </p:nvSpPr>
            <p:spPr>
              <a:xfrm>
                <a:off x="1143000" y="1651000"/>
                <a:ext cx="4318000" cy="710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ja-JP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ja-JP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ja-JP" alt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ja-JP" altLang="en-US" i="0">
                                  <a:latin typeface="Cambria Math" panose="02040503050406030204" pitchFamily="18" charset="0"/>
                                </a:rPr>
                                <m:t>=5</m:t>
                              </m:r>
                            </m:e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ja-JP" alt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ja-JP" altLang="en-US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97ED6934-5645-08A3-243B-3A6B0315D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1651000"/>
                <a:ext cx="4318000" cy="7101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7EEB46E-7EB2-CA99-E98B-AF7367A115FB}"/>
              </a:ext>
            </a:extLst>
          </p:cNvPr>
          <p:cNvSpPr txBox="1"/>
          <p:nvPr/>
        </p:nvSpPr>
        <p:spPr>
          <a:xfrm>
            <a:off x="1143000" y="1270000"/>
            <a:ext cx="431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400">
                <a:latin typeface="Yu Gothic" panose="020B0400000000000000" pitchFamily="50" charset="-128"/>
                <a:ea typeface="Yu Gothic" panose="020B0400000000000000" pitchFamily="50" charset="-128"/>
              </a:rPr>
              <a:t>数式 </a:t>
            </a:r>
            <a:r>
              <a:rPr kumimoji="1" lang="en-US" altLang="ja-JP" sz="1400">
                <a:latin typeface="Yu Gothic" panose="020B0400000000000000" pitchFamily="50" charset="-128"/>
                <a:ea typeface="Yu Gothic" panose="020B0400000000000000" pitchFamily="50" charset="-128"/>
              </a:rPr>
              <a:t>5</a:t>
            </a:r>
            <a:endParaRPr kumimoji="1" lang="ja-JP" altLang="en-US" sz="1400"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4A8D064D-458F-3018-6BF4-5098C42A3784}"/>
                  </a:ext>
                </a:extLst>
              </p:cNvPr>
              <p:cNvSpPr txBox="1"/>
              <p:nvPr/>
            </p:nvSpPr>
            <p:spPr>
              <a:xfrm>
                <a:off x="6477000" y="1651000"/>
                <a:ext cx="4318000" cy="6878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ja-JP" alt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ja-JP" altLang="en-US">
                                      <a:latin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ja-JP" altLang="en-US" i="0">
                                      <a:latin typeface="Cambria Math" panose="02040503050406030204" pitchFamily="18" charset="0"/>
                                    </a:rPr>
                                    <m:t>→0</m:t>
                                  </m:r>
                                </m:lim>
                              </m:limLow>
                            </m:fName>
                            <m:e>
                              <m:func>
                                <m:funcPr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ja-JP" altLang="en-US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func>
                        </m:num>
                        <m:den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ja-JP" altLang="en-US" i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4A8D064D-458F-3018-6BF4-5098C42A3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1651000"/>
                <a:ext cx="4318000" cy="6878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30935F5-06B9-DD62-9E28-33E4040D1B70}"/>
              </a:ext>
            </a:extLst>
          </p:cNvPr>
          <p:cNvSpPr txBox="1"/>
          <p:nvPr/>
        </p:nvSpPr>
        <p:spPr>
          <a:xfrm>
            <a:off x="6477000" y="1270000"/>
            <a:ext cx="431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400">
                <a:latin typeface="Yu Gothic" panose="020B0400000000000000" pitchFamily="50" charset="-128"/>
                <a:ea typeface="Yu Gothic" panose="020B0400000000000000" pitchFamily="50" charset="-128"/>
              </a:rPr>
              <a:t>数式 </a:t>
            </a:r>
            <a:r>
              <a:rPr kumimoji="1" lang="en-US" altLang="ja-JP" sz="1400">
                <a:latin typeface="Yu Gothic" panose="020B0400000000000000" pitchFamily="50" charset="-128"/>
                <a:ea typeface="Yu Gothic" panose="020B0400000000000000" pitchFamily="50" charset="-128"/>
              </a:rPr>
              <a:t>6</a:t>
            </a:r>
            <a:endParaRPr kumimoji="1" lang="ja-JP" altLang="en-US" sz="1400"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9BB98540-47EC-D6D5-5899-B00D49FB93DA}"/>
                  </a:ext>
                </a:extLst>
              </p:cNvPr>
              <p:cNvSpPr txBox="1"/>
              <p:nvPr/>
            </p:nvSpPr>
            <p:spPr>
              <a:xfrm>
                <a:off x="1143000" y="3937000"/>
                <a:ext cx="4318000" cy="4103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ja-JP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ja-JP" altLang="en-US" i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ja-JP" altLang="en-US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9BB98540-47EC-D6D5-5899-B00D49FB9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3937000"/>
                <a:ext cx="4318000" cy="410305"/>
              </a:xfrm>
              <a:prstGeom prst="rect">
                <a:avLst/>
              </a:prstGeom>
              <a:blipFill>
                <a:blip r:embed="rId4"/>
                <a:stretch>
                  <a:fillRect t="-104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4422308-5571-8F28-4C9C-5B711A13881A}"/>
              </a:ext>
            </a:extLst>
          </p:cNvPr>
          <p:cNvSpPr txBox="1"/>
          <p:nvPr/>
        </p:nvSpPr>
        <p:spPr>
          <a:xfrm>
            <a:off x="1143000" y="3556000"/>
            <a:ext cx="431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400">
                <a:latin typeface="Yu Gothic" panose="020B0400000000000000" pitchFamily="50" charset="-128"/>
                <a:ea typeface="Yu Gothic" panose="020B0400000000000000" pitchFamily="50" charset="-128"/>
              </a:rPr>
              <a:t>数式 </a:t>
            </a:r>
            <a:r>
              <a:rPr kumimoji="1" lang="en-US" altLang="ja-JP" sz="1400">
                <a:latin typeface="Yu Gothic" panose="020B0400000000000000" pitchFamily="50" charset="-128"/>
                <a:ea typeface="Yu Gothic" panose="020B0400000000000000" pitchFamily="50" charset="-128"/>
              </a:rPr>
              <a:t>7</a:t>
            </a:r>
            <a:endParaRPr kumimoji="1" lang="ja-JP" altLang="en-US" sz="1400"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D0541993-1ED8-6A74-A099-ACA499143BA0}"/>
                  </a:ext>
                </a:extLst>
              </p:cNvPr>
              <p:cNvSpPr txBox="1"/>
              <p:nvPr/>
            </p:nvSpPr>
            <p:spPr>
              <a:xfrm>
                <a:off x="6477000" y="3937000"/>
                <a:ext cx="4318000" cy="669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ja-JP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ja-JP" altLang="en-US" i="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D0541993-1ED8-6A74-A099-ACA499143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3937000"/>
                <a:ext cx="4318000" cy="6690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88A58EB-265A-1FB8-662E-F6046C71B0D4}"/>
              </a:ext>
            </a:extLst>
          </p:cNvPr>
          <p:cNvSpPr txBox="1"/>
          <p:nvPr/>
        </p:nvSpPr>
        <p:spPr>
          <a:xfrm>
            <a:off x="6477000" y="3556000"/>
            <a:ext cx="431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400">
                <a:latin typeface="Yu Gothic" panose="020B0400000000000000" pitchFamily="50" charset="-128"/>
                <a:ea typeface="Yu Gothic" panose="020B0400000000000000" pitchFamily="50" charset="-128"/>
              </a:rPr>
              <a:t>数式 </a:t>
            </a:r>
            <a:r>
              <a:rPr kumimoji="1" lang="en-US" altLang="ja-JP" sz="1400">
                <a:latin typeface="Yu Gothic" panose="020B0400000000000000" pitchFamily="50" charset="-128"/>
                <a:ea typeface="Yu Gothic" panose="020B0400000000000000" pitchFamily="50" charset="-128"/>
              </a:rPr>
              <a:t>8</a:t>
            </a:r>
            <a:endParaRPr kumimoji="1" lang="ja-JP" altLang="en-US" sz="1400"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03761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400</Words>
  <Application>Microsoft Office PowerPoint</Application>
  <PresentationFormat>ワイド画面</PresentationFormat>
  <Paragraphs>68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Yu Gothic</vt:lpstr>
      <vt:lpstr>Arial</vt:lpstr>
      <vt:lpstr>Calibri</vt:lpstr>
      <vt:lpstr>Cambria Math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LibreOffice conversion validation fixture</dc:title>
  <dc:subject/>
  <dc:creator>Office Validation Generator</dc:creator>
  <cp:keywords/>
  <dc:description>generated using python-pptx</dc:description>
  <cp:lastModifiedBy>2713024 曾根　優生</cp:lastModifiedBy>
  <cp:revision>2</cp:revision>
  <dcterms:created xsi:type="dcterms:W3CDTF">2013-01-27T09:14:16Z</dcterms:created>
  <dcterms:modified xsi:type="dcterms:W3CDTF">2026-07-16T17:17:34Z</dcterms:modified>
  <cp:category/>
</cp:coreProperties>
</file>