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26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PPTX_表・フォント総合検証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P-TBL-000 / 16:9 / PowerPointネイティブ表・フォント境界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r>
                        <a:t>試験番号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フォント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サイズ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サンプル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期待状態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P-TBL-001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Yu Gothic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10.5pt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日本語ABC123 あいうえお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日本語字形と行高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P-TBL-002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Yu Mincho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10.5pt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Yu Mincho"/>
                        </a:rPr>
                        <a:t>日本語ABC123 あいうえお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日本語字形と行高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P-TBL-003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Meiryo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10.5pt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Meiryo"/>
                        </a:rPr>
                        <a:t>日本語ABC123 あいうえお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日本語字形と行高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P-TBL-004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MS Gothic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10.5pt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MS Gothic"/>
                        </a:rPr>
                        <a:t>日本語ABC123 あいうえお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日本語字形と行高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P-TBL-005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MS Mincho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10.5pt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MS Mincho"/>
                        </a:rPr>
                        <a:t>日本語ABC123 あいうえお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latin typeface="Yu Gothic"/>
                        </a:rPr>
                        <a:t>日本語字形と行高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表の罫線、余白、フォント指定が維持される。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P-TBL-010 英語フォント比較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Arial / Calibri / Times New Roman / Courier New / Cambria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972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Font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Bold Italic Underline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Sup/Sub/Strike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Arial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latin typeface="Arial"/>
                        </a:rPr>
                        <a:t>The quick brown fox 12345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 i="1" u="sng">
                          <a:latin typeface="Arial"/>
                        </a:rPr>
                        <a:t>Bold Italic Underline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latin typeface="Arial"/>
                        </a:rPr>
                        <a:t>H</a:t>
                      </a:r>
                      <a:r>
                        <a:rPr sz="800" b="0" i="0">
                          <a:latin typeface="Arial"/>
                        </a:rPr>
                        <a:t>2</a:t>
                      </a:r>
                      <a:r>
                        <a:rPr sz="1200" b="0" i="0">
                          <a:latin typeface="Arial"/>
                        </a:rPr>
                        <a:t>O x</a:t>
                      </a:r>
                      <a:r>
                        <a:rPr sz="800" b="0" i="0">
                          <a:latin typeface="Arial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Calibri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latin typeface="Calibri"/>
                        </a:rPr>
                        <a:t>The quick brown fox 12345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 i="1" u="sng">
                          <a:latin typeface="Calibri"/>
                        </a:rPr>
                        <a:t>Bold Italic Underline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latin typeface="Calibri"/>
                        </a:rPr>
                        <a:t>H</a:t>
                      </a:r>
                      <a:r>
                        <a:rPr sz="800" b="0" i="0">
                          <a:latin typeface="Calibri"/>
                        </a:rPr>
                        <a:t>2</a:t>
                      </a:r>
                      <a:r>
                        <a:rPr sz="1200" b="0" i="0">
                          <a:latin typeface="Calibri"/>
                        </a:rPr>
                        <a:t>O x</a:t>
                      </a:r>
                      <a:r>
                        <a:rPr sz="800" b="0" i="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Times New Roman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latin typeface="Times New Roman"/>
                        </a:rPr>
                        <a:t>The quick brown fox 12345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 i="1" u="sng">
                          <a:latin typeface="Times New Roman"/>
                        </a:rPr>
                        <a:t>Bold Italic Underline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latin typeface="Times New Roman"/>
                        </a:rPr>
                        <a:t>H</a:t>
                      </a:r>
                      <a:r>
                        <a:rPr sz="800" b="0" i="0">
                          <a:latin typeface="Times New Roman"/>
                        </a:rPr>
                        <a:t>2</a:t>
                      </a:r>
                      <a:r>
                        <a:rPr sz="1200" b="0" i="0">
                          <a:latin typeface="Times New Roman"/>
                        </a:rPr>
                        <a:t>O x</a:t>
                      </a:r>
                      <a:r>
                        <a:rPr sz="800" b="0" i="0"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Courier 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latin typeface="Courier New"/>
                        </a:rPr>
                        <a:t>The quick brown fox 12345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 i="1" u="sng">
                          <a:latin typeface="Courier New"/>
                        </a:rPr>
                        <a:t>Bold Italic Underline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latin typeface="Courier New"/>
                        </a:rPr>
                        <a:t>H</a:t>
                      </a:r>
                      <a:r>
                        <a:rPr sz="800" b="0" i="0">
                          <a:latin typeface="Courier New"/>
                        </a:rPr>
                        <a:t>2</a:t>
                      </a:r>
                      <a:r>
                        <a:rPr sz="1200" b="0" i="0">
                          <a:latin typeface="Courier New"/>
                        </a:rPr>
                        <a:t>O x</a:t>
                      </a:r>
                      <a:r>
                        <a:rPr sz="800" b="0" i="0">
                          <a:latin typeface="Courier New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Cambria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latin typeface="Cambria"/>
                        </a:rPr>
                        <a:t>The quick brown fox 12345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 i="1" u="sng">
                          <a:latin typeface="Cambria"/>
                        </a:rPr>
                        <a:t>Bold Italic Underline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latin typeface="Cambria"/>
                        </a:rPr>
                        <a:t>H</a:t>
                      </a:r>
                      <a:r>
                        <a:rPr sz="800" b="0" i="0">
                          <a:latin typeface="Cambria"/>
                        </a:rPr>
                        <a:t>2</a:t>
                      </a:r>
                      <a:r>
                        <a:rPr sz="1200" b="0" i="0">
                          <a:latin typeface="Cambria"/>
                        </a:rPr>
                        <a:t>O x</a:t>
                      </a:r>
                      <a:r>
                        <a:rPr sz="800" b="0" i="0">
                          <a:latin typeface="Cambria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P-TBL-020 文字サイズ境界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6pt, 7.5pt, 8pt, 10.5pt, 12pt, 18pt, 32pt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latin typeface="Yu Gothic"/>
              </a:defRPr>
            </a:pPr>
            <a:r>
              <a:t>P-TBL-021 Size=6pt / Yu Gothic + Arial / 日本語English混在 ABC123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latin typeface="Yu Gothic"/>
              </a:defRPr>
            </a:pPr>
            <a:r>
              <a:t>P-TBL-022 Size=7.5pt / Yu Gothic + Arial / 日本語English混在 ABC123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P-TBL-023 Size=8pt / Yu Gothic + Arial / 日本語English混在 ABC123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latin typeface="Yu Gothic"/>
              </a:defRPr>
            </a:pPr>
            <a:r>
              <a:t>P-TBL-024 Size=10.5pt / Yu Gothic + Arial / 日本語English混在 ABC123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Yu Gothic"/>
              </a:defRPr>
            </a:pPr>
            <a:r>
              <a:t>P-TBL-025 Size=12pt / Yu Gothic + Arial / 日本語English混在 ABC123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Yu Gothic"/>
              </a:defRPr>
            </a:pPr>
            <a:r>
              <a:t>P-TBL-026 Size=18pt / Yu Gothic + Arial / 日本語English混在 ABC123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Yu Gothic"/>
              </a:defRPr>
            </a:pPr>
            <a:r>
              <a:rPr dirty="0"/>
              <a:t>P-TBL-027 Size=32pt / Yu Gothic + Arial / </a:t>
            </a:r>
            <a:r>
              <a:rPr dirty="0" err="1"/>
              <a:t>日本語English混在</a:t>
            </a:r>
            <a:r>
              <a:rPr dirty="0"/>
              <a:t> ABC123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94212E2-7FF5-396C-D33F-6B664B795D57}"/>
              </a:ext>
            </a:extLst>
          </p:cNvPr>
          <p:cNvSpPr txBox="1"/>
          <p:nvPr/>
        </p:nvSpPr>
        <p:spPr>
          <a:xfrm>
            <a:off x="8217725" y="6115792"/>
            <a:ext cx="307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右はみ出し </a:t>
            </a:r>
            <a:r>
              <a:rPr kumimoji="1" lang="en-US" altLang="ja-JP" dirty="0">
                <a:sym typeface="Wingdings" panose="05000000000000000000" pitchFamily="2" charset="2"/>
              </a:rPr>
              <a:t>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P-TBL-030 縦書き・回転文字・文字間隔/行間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直接指定フォントと配置の確認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194560" cy="1463040"/>
          </a:xfrm>
          <a:prstGeom prst="roundRect">
            <a:avLst/>
          </a:prstGeom>
          <a:solidFill>
            <a:srgbClr val="FFBD85"/>
          </a:solidFill>
          <a:ln>
            <a:solidFill>
              <a:srgbClr val="1D5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latin typeface="Yu Gothic"/>
              </a:defRPr>
            </a:pPr>
            <a:r>
              <a:t>P-TBL-031</a:t>
            </a:r>
          </a:p>
          <a:p>
            <a:r>
              <a:t>回転 0°</a:t>
            </a:r>
          </a:p>
        </p:txBody>
      </p:sp>
      <p:sp>
        <p:nvSpPr>
          <p:cNvPr id="5" name="Rounded Rectangle 4"/>
          <p:cNvSpPr/>
          <p:nvPr/>
        </p:nvSpPr>
        <p:spPr>
          <a:xfrm rot="1800000">
            <a:off x="3474720" y="1325880"/>
            <a:ext cx="2194560" cy="1463040"/>
          </a:xfrm>
          <a:prstGeom prst="roundRect">
            <a:avLst/>
          </a:prstGeom>
          <a:solidFill>
            <a:srgbClr val="FFBD85"/>
          </a:solidFill>
          <a:ln>
            <a:solidFill>
              <a:srgbClr val="1D5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latin typeface="Yu Gothic"/>
              </a:defRPr>
            </a:pPr>
            <a:r>
              <a:t>P-TBL-032</a:t>
            </a:r>
          </a:p>
          <a:p>
            <a:r>
              <a:t>回転 30°</a:t>
            </a:r>
          </a:p>
        </p:txBody>
      </p:sp>
      <p:sp>
        <p:nvSpPr>
          <p:cNvPr id="6" name="Rounded Rectangle 5"/>
          <p:cNvSpPr/>
          <p:nvPr/>
        </p:nvSpPr>
        <p:spPr>
          <a:xfrm rot="5400000">
            <a:off x="6217920" y="1325880"/>
            <a:ext cx="2194560" cy="1463040"/>
          </a:xfrm>
          <a:prstGeom prst="roundRect">
            <a:avLst/>
          </a:prstGeom>
          <a:solidFill>
            <a:srgbClr val="FFBD85"/>
          </a:solidFill>
          <a:ln>
            <a:solidFill>
              <a:srgbClr val="1D5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latin typeface="Yu Gothic"/>
              </a:defRPr>
            </a:pPr>
            <a:r>
              <a:t>P-TBL-033</a:t>
            </a:r>
          </a:p>
          <a:p>
            <a:r>
              <a:t>回転 90°</a:t>
            </a:r>
          </a:p>
        </p:txBody>
      </p:sp>
      <p:sp>
        <p:nvSpPr>
          <p:cNvPr id="7" name="Rounded Rectangle 6"/>
          <p:cNvSpPr/>
          <p:nvPr/>
        </p:nvSpPr>
        <p:spPr>
          <a:xfrm rot="16200000">
            <a:off x="8961120" y="1325880"/>
            <a:ext cx="2194560" cy="1463040"/>
          </a:xfrm>
          <a:prstGeom prst="roundRect">
            <a:avLst/>
          </a:prstGeom>
          <a:solidFill>
            <a:srgbClr val="FFBD85"/>
          </a:solidFill>
          <a:ln>
            <a:solidFill>
              <a:srgbClr val="1D5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latin typeface="Yu Gothic"/>
              </a:defRPr>
            </a:pPr>
            <a:r>
              <a:t>P-TBL-034</a:t>
            </a:r>
          </a:p>
          <a:p>
            <a:r>
              <a:t>回転 270°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P-TBL-035 行間確認</a:t>
            </a:r>
          </a:p>
          <a:p>
            <a:r>
              <a:t>1行目 Japanese/English mixed</a:t>
            </a:r>
          </a:p>
          <a:p>
            <a:r>
              <a:t>2行目 文字間隔はOffice側の既定表示で確認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P-TBL-040 セル結合・複数行セル・余白・縦方向配置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PowerPointネイティブ表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6112">
                <a:tc gridSpan="5">
                  <a:txBody>
                    <a:bodyPr/>
                    <a:lstStyle/>
                    <a:p>
                      <a:r>
                        <a:t>P-TBL-041 結合セル見出し / 塗りつぶし / 罫線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R1C0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R1C1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R1C2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R1C3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R1C4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R2C0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R2C1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R2C2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R2C3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R2C4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R3C0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R3C1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R3C2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R3C3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R3C4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R4C0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R4C1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R4C2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R4C3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R4C4</a:t>
                      </a:r>
                    </a:p>
                    <a:p>
                      <a:pPr>
                        <a:defRPr sz="1000">
                          <a:latin typeface="Yu Gothic"/>
                        </a:defRPr>
                      </a:pPr>
                      <a:r>
                        <a:t>複数行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P-TBL-050 スライド端付近の表・図形重なり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意図的な重なりあり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601200" y="4480560"/>
          <a:ext cx="2514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t>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t>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t>3,0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loud 4"/>
          <p:cNvSpPr/>
          <p:nvPr/>
        </p:nvSpPr>
        <p:spPr>
          <a:xfrm>
            <a:off x="8961120" y="4023360"/>
            <a:ext cx="1920240" cy="1188720"/>
          </a:xfrm>
          <a:prstGeom prst="cloud">
            <a:avLst/>
          </a:prstGeom>
          <a:solidFill>
            <a:srgbClr val="00AA7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P-TBL-052</a:t>
            </a:r>
          </a:p>
          <a:p>
            <a:r>
              <a:t>重なり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P-TBL-060 テーマフォントと直接指定フォント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テーマ依存と直接指定の差分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P-TBL-061: Theme font (未直接指定) / 日本語 English 123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Yu Gothic"/>
              </a:defRPr>
            </a:pPr>
            <a:r>
              <a:t>P-TBL-062: Direct Yu Gothic / 日本語 English 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Times New Roman"/>
              </a:defRPr>
            </a:pPr>
            <a:r>
              <a:t>P-TBL-063: Direct Times New Roman / 日本語 English 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Courier New"/>
              </a:defRPr>
            </a:pPr>
            <a:r>
              <a:t>P-TBL-064: Direct Courier New / 日本語 English 123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P-TBL-78 個別表ストレス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透明色・罫線・小さい文字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0-0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0-1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0-2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0-3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0-4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0-5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1-0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1-1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1-2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1-3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1-4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1-5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2-0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2-1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2-2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2-3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2-4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2-5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3-0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3-1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3-2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3-3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3-4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3-5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4-0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4-1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4-2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4-3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4-4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4-5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5-0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5-1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5-2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5-3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5-4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5-5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6-0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6-1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6-2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6-3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6-4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6-5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7-0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7-1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7-2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7-3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7-4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7-5</a:t>
                      </a:r>
                    </a:p>
                    <a:p>
                      <a:pPr>
                        <a:defRPr sz="75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P-TBL-79 個別表ストレス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透明色・罫線・小さい文字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0-0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0-1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0-2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0-3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0-4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0-5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1-0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1-1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1-2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1-3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1-4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1-5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2-0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2-1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2-2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2-3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2-4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2-5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3-0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3-1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3-2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3-3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3-4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3-5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4-0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4-1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4-2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4-3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4-4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4-5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5-0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5-1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5-2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5-3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5-4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5-5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6-0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6-1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6-2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6-3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6-4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6-5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7-0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7-1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7-2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7-3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7-4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7-5</a:t>
                      </a:r>
                    </a:p>
                    <a:p>
                      <a:pPr>
                        <a:defRPr sz="800">
                          <a:latin typeface="Meiryo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P-TBL-80 個別表ストレス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透明色・罫線・小さい文字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0-0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0-1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0-2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0-3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0-4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0-5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1-0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1-1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1-2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1-3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1-4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1-5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2-0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2-1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2-2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2-3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2-4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2-5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3-0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3-1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3-2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3-3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3-4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3-5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4-0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4-1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4-2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4-3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4-4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4-5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5-0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5-1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5-2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5-3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5-4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5-5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6-0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6-1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6-2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6-3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6-4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6-5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7-0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7-1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7-2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7-3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7-4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7-5</a:t>
                      </a:r>
                    </a:p>
                    <a:p>
                      <a:pPr>
                        <a:defRPr sz="800">
                          <a:latin typeface="Calibri"/>
                        </a:defRPr>
                      </a:pPr>
                      <a:r>
                        <a:t>日本語EN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879</Words>
  <Application>Microsoft Office PowerPoint</Application>
  <PresentationFormat>ワイド画面</PresentationFormat>
  <Paragraphs>445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22" baseType="lpstr">
      <vt:lpstr>MS Gothic</vt:lpstr>
      <vt:lpstr>MS Mincho</vt:lpstr>
      <vt:lpstr>Meiryo</vt:lpstr>
      <vt:lpstr>Yu Gothic</vt:lpstr>
      <vt:lpstr>Yu Mincho</vt:lpstr>
      <vt:lpstr>Arial</vt:lpstr>
      <vt:lpstr>Calibri</vt:lpstr>
      <vt:lpstr>Cambria</vt:lpstr>
      <vt:lpstr>Courier New</vt:lpstr>
      <vt:lpstr>Times New Roman</vt:lpstr>
      <vt:lpstr>Wingdings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LibreOffice conversion validation fixture</dc:title>
  <dc:subject/>
  <dc:creator>Office Validation Generator</dc:creator>
  <cp:keywords/>
  <dc:description>generated using python-pptx</dc:description>
  <cp:lastModifiedBy>2713024 曾根　優生</cp:lastModifiedBy>
  <cp:revision>2</cp:revision>
  <dcterms:created xsi:type="dcterms:W3CDTF">2013-01-27T09:14:16Z</dcterms:created>
  <dcterms:modified xsi:type="dcterms:W3CDTF">2026-07-16T22:42:00Z</dcterms:modified>
  <cp:category/>
</cp:coreProperties>
</file>